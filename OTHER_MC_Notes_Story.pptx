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3035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7080"/>
                </a:solidFill>
              </a:rPr>
              <a:t>OTHER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9052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12B"/>
                </a:solidFill>
              </a:rPr>
              <a:t>MC Notes story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07080"/>
                </a:solidFill>
              </a:rPr>
              <a:t>A first presentation cut built from the dashboard data, centered on OTHER notes.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212848"/>
            <a:ext cx="2148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2322576"/>
            <a:ext cx="19293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80" b="1">
                <a:solidFill>
                  <a:srgbClr val="607080"/>
                </a:solidFill>
              </a:rPr>
              <a:t>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523744"/>
            <a:ext cx="19293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12B"/>
                </a:solidFill>
              </a:rPr>
              <a:t>2,594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871215"/>
            <a:ext cx="19293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80" b="0">
                <a:solidFill>
                  <a:srgbClr val="607080"/>
                </a:solidFill>
              </a:rPr>
              <a:t>Template Type = OTHER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2212848"/>
            <a:ext cx="2148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2322576"/>
            <a:ext cx="19293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80" b="1">
                <a:solidFill>
                  <a:srgbClr val="607080"/>
                </a:solidFill>
              </a:rPr>
              <a:t>OPINION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523744"/>
            <a:ext cx="19293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12B"/>
                </a:solidFill>
              </a:rPr>
              <a:t>3,540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871215"/>
            <a:ext cx="19293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80" b="0">
                <a:solidFill>
                  <a:srgbClr val="607080"/>
                </a:solidFill>
              </a:rPr>
              <a:t>Across service columns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93792" y="2212848"/>
            <a:ext cx="2148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322576"/>
            <a:ext cx="19293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80" b="1">
                <a:solidFill>
                  <a:srgbClr val="607080"/>
                </a:solidFill>
              </a:rPr>
              <a:t>DOCS WITH OPINIONS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523744"/>
            <a:ext cx="19293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12B"/>
                </a:solidFill>
              </a:rPr>
              <a:t>1,160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871215"/>
            <a:ext cx="19293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80" b="0">
                <a:solidFill>
                  <a:srgbClr val="607080"/>
                </a:solidFill>
              </a:rPr>
              <a:t>44.7% of OTHER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07224" y="2212848"/>
            <a:ext cx="2148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2322576"/>
            <a:ext cx="19293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80" b="1">
                <a:solidFill>
                  <a:srgbClr val="607080"/>
                </a:solidFill>
              </a:rPr>
              <a:t>CLASSIFIED MC 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2523744"/>
            <a:ext cx="19293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12B"/>
                </a:solidFill>
              </a:rPr>
              <a:t>2,576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2871215"/>
            <a:ext cx="19293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80" b="0">
                <a:solidFill>
                  <a:srgbClr val="607080"/>
                </a:solidFill>
              </a:rPr>
              <a:t>99.3% of OTHER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0656" y="2212848"/>
            <a:ext cx="2148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0384" y="2322576"/>
            <a:ext cx="19293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80" b="1">
                <a:solidFill>
                  <a:srgbClr val="607080"/>
                </a:solidFill>
              </a:rPr>
              <a:t>BO DATE 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0384" y="2523744"/>
            <a:ext cx="19293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12B"/>
                </a:solidFill>
              </a:rPr>
              <a:t>2022-12-19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0384" y="2871215"/>
            <a:ext cx="19293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80" b="0">
                <a:solidFill>
                  <a:srgbClr val="607080"/>
                </a:solidFill>
              </a:rPr>
              <a:t>to 2026-05-19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712463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12B"/>
                </a:solidFill>
              </a:rPr>
              <a:t>Storyline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169663"/>
            <a:ext cx="105156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7212B"/>
                </a:solidFill>
              </a:rPr>
              <a:t>1. Service opinions are concentrated in a handful of services, but length patterns differ.</a:t>
            </a:r>
            <a:br/>
            <a:r>
              <a:t>2. Monthly page load is mostly driven by annexes, so page composition matters more than total pages alone.</a:t>
            </a:r>
            <a:br/>
            <a:r>
              <a:t>3. Decision notes dominate OTHER volume; opinion coverage is much lower for Info and Discussion notes.</a:t>
            </a:r>
            <a:br/>
            <a:r>
              <a:t>4. The deck uses BO validation dates for all time series.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607080"/>
                </a:solidFill>
              </a:rPr>
              <a:t>Source: Data Analysis/dashboard_data.json | Timeline: BO validation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07080"/>
                </a:solidFill>
              </a:rPr>
              <a:t>OTHER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572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12B"/>
                </a:solidFill>
              </a:rPr>
              <a:t>Service Volume and Length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32688"/>
            <a:ext cx="11292840" cy="18288"/>
          </a:xfrm>
          <a:prstGeom prst="rect">
            <a:avLst/>
          </a:prstGeom>
          <a:solidFill>
            <a:srgbClr val="B38B00"/>
          </a:solidFill>
          <a:ln>
            <a:solidFill>
              <a:srgbClr val="B3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ther_service_volume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097280"/>
            <a:ext cx="8229600" cy="37809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823960" y="1225296"/>
            <a:ext cx="25603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28016" wrap="square"/>
          <a:lstStyle/>
          <a:p>
            <a:pPr>
              <a:defRPr sz="1200">
                <a:solidFill>
                  <a:srgbClr val="17212B"/>
                </a:solidFill>
              </a:defRPr>
            </a:pPr>
            <a:r>
              <a:t>JU is the highest-volume service with 894 opinion rows. The right-hand markers separate volume from length, so services with fewer opinions but longer text still stand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607080"/>
                </a:solidFill>
              </a:rPr>
              <a:t>Source: Data Analysis/dashboard_data.json | Timeline: BO validation 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07080"/>
                </a:solidFill>
              </a:rPr>
              <a:t>OTHER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572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12B"/>
                </a:solidFill>
              </a:rPr>
              <a:t>Monthly Page 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32688"/>
            <a:ext cx="11292840" cy="18288"/>
          </a:xfrm>
          <a:prstGeom prst="rect">
            <a:avLst/>
          </a:prstGeom>
          <a:solidFill>
            <a:srgbClr val="B38B00"/>
          </a:solidFill>
          <a:ln>
            <a:solidFill>
              <a:srgbClr val="B3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ther_monthly_page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097280"/>
            <a:ext cx="8229600" cy="44150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823960" y="1225296"/>
            <a:ext cx="25603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28016" wrap="square"/>
          <a:lstStyle/>
          <a:p>
            <a:pPr>
              <a:defRPr sz="1200">
                <a:solidFill>
                  <a:srgbClr val="17212B"/>
                </a:solidFill>
              </a:defRPr>
            </a:pPr>
            <a:r>
              <a:t>OTHER averages 27.0 total pages per document, with annexes averaging 21.0 pages. The monthly view shows whether document growth is coming from pre-opinion text, opinions, or annex 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607080"/>
                </a:solidFill>
              </a:rPr>
              <a:t>Source: Data Analysis/dashboard_data.json | Timeline: BO validation 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07080"/>
                </a:solidFill>
              </a:rPr>
              <a:t>OTHER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572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12B"/>
                </a:solidFill>
              </a:rPr>
              <a:t>Monthly Documents By MC Note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32688"/>
            <a:ext cx="11292840" cy="18288"/>
          </a:xfrm>
          <a:prstGeom prst="rect">
            <a:avLst/>
          </a:prstGeom>
          <a:solidFill>
            <a:srgbClr val="B38B00"/>
          </a:solidFill>
          <a:ln>
            <a:solidFill>
              <a:srgbClr val="B3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ther_monthly_mc_note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097280"/>
            <a:ext cx="8229600" cy="42545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823960" y="1225296"/>
            <a:ext cx="25603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28016" wrap="square"/>
          <a:lstStyle/>
          <a:p>
            <a:pPr>
              <a:defRPr sz="1200">
                <a:solidFill>
                  <a:srgbClr val="17212B"/>
                </a:solidFill>
              </a:defRPr>
            </a:pPr>
            <a:r>
              <a:t>Decision notes are the dominant classified OTHER note type (1,766 documents). The moving-average lines make changes in the smaller types easier to see.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607080"/>
                </a:solidFill>
              </a:rPr>
              <a:t>Source: Data Analysis/dashboard_data.json | Timeline: BO validation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07080"/>
                </a:solidFill>
              </a:rPr>
              <a:t>OTHER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572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12B"/>
                </a:solidFill>
              </a:rPr>
              <a:t>Quarterly Opinion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32688"/>
            <a:ext cx="11292840" cy="18288"/>
          </a:xfrm>
          <a:prstGeom prst="rect">
            <a:avLst/>
          </a:prstGeom>
          <a:solidFill>
            <a:srgbClr val="B38B00"/>
          </a:solidFill>
          <a:ln>
            <a:solidFill>
              <a:srgbClr val="B3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ther_quarterly_opinion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097280"/>
            <a:ext cx="8229600" cy="34795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823960" y="1225296"/>
            <a:ext cx="25603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28016" wrap="square"/>
          <a:lstStyle/>
          <a:p>
            <a:pPr>
              <a:defRPr sz="1200">
                <a:solidFill>
                  <a:srgbClr val="17212B"/>
                </a:solidFill>
              </a:defRPr>
            </a:pPr>
            <a:r>
              <a:t>Opinion coverage differs sharply by type: Decision is 62.1%, while Info is 7.7%. This slide frames coverage as a rate, not a raw 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607080"/>
                </a:solidFill>
              </a:rPr>
              <a:t>Source: Data Analysis/dashboard_data.json | Timeline: BO validation 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07080"/>
                </a:solidFill>
              </a:rPr>
              <a:t>OTHER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572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12B"/>
                </a:solidFill>
              </a:rPr>
              <a:t>MC Note Type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32688"/>
            <a:ext cx="11292840" cy="18288"/>
          </a:xfrm>
          <a:prstGeom prst="rect">
            <a:avLst/>
          </a:prstGeom>
          <a:solidFill>
            <a:srgbClr val="B38B00"/>
          </a:solidFill>
          <a:ln>
            <a:solidFill>
              <a:srgbClr val="B3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9500616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685800"/>
                <a:gridCol w="960120"/>
                <a:gridCol w="1005840"/>
                <a:gridCol w="914400"/>
                <a:gridCol w="713232"/>
                <a:gridCol w="713232"/>
                <a:gridCol w="713232"/>
                <a:gridCol w="2743200"/>
              </a:tblGrid>
              <a:tr h="491490">
                <a:tc>
                  <a:txBody>
                    <a:bodyPr/>
                    <a:lstStyle/>
                    <a:p>
                      <a:pPr>
                        <a:defRPr b="1" sz="819">
                          <a:solidFill>
                            <a:srgbClr val="17212B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19">
                          <a:solidFill>
                            <a:srgbClr val="17212B"/>
                          </a:solidFill>
                        </a:defRPr>
                      </a:pPr>
                      <a:r>
                        <a:t>Docs</a:t>
                      </a: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19">
                          <a:solidFill>
                            <a:srgbClr val="17212B"/>
                          </a:solidFill>
                        </a:defRPr>
                      </a:pPr>
                      <a:r>
                        <a:t>Opinion docs</a:t>
                      </a: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19">
                          <a:solidFill>
                            <a:srgbClr val="17212B"/>
                          </a:solidFill>
                        </a:defRPr>
                      </a:pPr>
                      <a:r>
                        <a:t>Opinion share</a:t>
                      </a: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19">
                          <a:solidFill>
                            <a:srgbClr val="17212B"/>
                          </a:solidFill>
                        </a:defRPr>
                      </a:pPr>
                      <a:r>
                        <a:t>Median pages</a:t>
                      </a: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19">
                          <a:solidFill>
                            <a:srgbClr val="17212B"/>
                          </a:solidFill>
                        </a:defRPr>
                      </a:pPr>
                      <a:r>
                        <a:t>Pre-op</a:t>
                      </a: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19">
                          <a:solidFill>
                            <a:srgbClr val="17212B"/>
                          </a:solidFill>
                        </a:defRPr>
                      </a:pPr>
                      <a:r>
                        <a:t>Opinion</a:t>
                      </a: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19">
                          <a:solidFill>
                            <a:srgbClr val="17212B"/>
                          </a:solidFill>
                        </a:defRPr>
                      </a:pPr>
                      <a:r>
                        <a:t>Annex</a:t>
                      </a: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19">
                          <a:solidFill>
                            <a:srgbClr val="17212B"/>
                          </a:solidFill>
                        </a:defRPr>
                      </a:pPr>
                      <a:r>
                        <a:t>BO date range</a:t>
                      </a:r>
                    </a:p>
                  </a:txBody>
                  <a:tcPr>
                    <a:solidFill>
                      <a:srgbClr val="E8EFF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1,766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1,097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62.1%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17.0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24.4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2022-12-19 to 2026-05-17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Discussion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18.8%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23.0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29.0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2023-01-11 to 2026-05-07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12.4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7212B"/>
                          </a:solidFill>
                        </a:defRPr>
                      </a:pPr>
                      <a:r>
                        <a:t>2023-01-03 to 2026-05-19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21792" y="3749039"/>
            <a:ext cx="106070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28016" wrap="square"/>
          <a:lstStyle/>
          <a:p>
            <a:pPr>
              <a:defRPr sz="1200">
                <a:solidFill>
                  <a:srgbClr val="17212B"/>
                </a:solidFill>
              </a:defRPr>
            </a:pPr>
            <a:r>
              <a:t>Decision has the highest opinion coverage at 62.1%, while Info has the lowest at 7.7%. That makes note type a useful first lens for explaining where service opinions appear in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607080"/>
                </a:solidFill>
              </a:rPr>
              <a:t>Source: Data Analysis/dashboard_data.json | Timeline: BO validation 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